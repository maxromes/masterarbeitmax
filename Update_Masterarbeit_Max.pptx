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9" r:id="rId4"/>
    <p:sldId id="260" r:id="rId5"/>
    <p:sldId id="268" r:id="rId6"/>
    <p:sldId id="262" r:id="rId7"/>
    <p:sldId id="270" r:id="rId8"/>
    <p:sldId id="261" r:id="rId9"/>
    <p:sldId id="271" r:id="rId10"/>
    <p:sldId id="272" r:id="rId11"/>
    <p:sldId id="264" r:id="rId12"/>
    <p:sldId id="275" r:id="rId13"/>
    <p:sldId id="267" r:id="rId14"/>
    <p:sldId id="265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Datengrundlage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b="1" dirty="0"/>
              <a:t>46 Videos </a:t>
            </a:r>
            <a:r>
              <a:rPr lang="de-DE" dirty="0"/>
              <a:t>(</a:t>
            </a:r>
            <a:r>
              <a:rPr lang="de-DE" dirty="0" err="1"/>
              <a:t>Milimani</a:t>
            </a:r>
            <a:r>
              <a:rPr lang="de-DE" dirty="0"/>
              <a:t> 18, </a:t>
            </a:r>
            <a:r>
              <a:rPr lang="de-DE" dirty="0" err="1"/>
              <a:t>Utumbi</a:t>
            </a:r>
            <a:r>
              <a:rPr lang="de-DE" dirty="0"/>
              <a:t> 17, </a:t>
            </a:r>
            <a:r>
              <a:rPr lang="de-DE" dirty="0" err="1"/>
              <a:t>Nursery</a:t>
            </a:r>
            <a:r>
              <a:rPr lang="de-DE" dirty="0"/>
              <a:t> 11)</a:t>
            </a:r>
          </a:p>
          <a:p>
            <a:pPr marL="0" indent="0">
              <a:buNone/>
            </a:pPr>
            <a:r>
              <a:rPr lang="de-DE" sz="2400" dirty="0"/>
              <a:t>Coral </a:t>
            </a:r>
            <a:r>
              <a:rPr lang="de-DE" sz="2400" dirty="0" err="1"/>
              <a:t>Reef</a:t>
            </a:r>
            <a:r>
              <a:rPr lang="de-DE" sz="2400" dirty="0"/>
              <a:t> (35 Videos)			</a:t>
            </a:r>
            <a:r>
              <a:rPr lang="de-DE" sz="2400" dirty="0" err="1"/>
              <a:t>Nursery</a:t>
            </a:r>
            <a:r>
              <a:rPr lang="de-DE" sz="2400" dirty="0"/>
              <a:t> (11 Videos)</a:t>
            </a:r>
          </a:p>
          <a:p>
            <a:pPr marL="0" indent="0">
              <a:buNone/>
            </a:pPr>
            <a:r>
              <a:rPr lang="de-DE" sz="2400" dirty="0"/>
              <a:t>mackerel:6 Videos				</a:t>
            </a:r>
            <a:r>
              <a:rPr lang="de-DE" sz="2400" dirty="0" err="1"/>
              <a:t>mackerel</a:t>
            </a:r>
            <a:r>
              <a:rPr lang="de-DE" sz="2400" dirty="0"/>
              <a:t>: 4 Videos</a:t>
            </a:r>
          </a:p>
          <a:p>
            <a:pPr marL="0" indent="0">
              <a:buNone/>
            </a:pPr>
            <a:r>
              <a:rPr lang="de-DE" sz="2400" dirty="0"/>
              <a:t>ulva_salad:7 Videos				</a:t>
            </a:r>
            <a:r>
              <a:rPr lang="de-DE" sz="2400" dirty="0" err="1"/>
              <a:t>algae_strings</a:t>
            </a:r>
            <a:r>
              <a:rPr lang="de-DE" sz="2400" dirty="0"/>
              <a:t>: 3 Videos</a:t>
            </a:r>
          </a:p>
          <a:p>
            <a:pPr marL="0" indent="0">
              <a:buNone/>
            </a:pPr>
            <a:r>
              <a:rPr lang="de-DE" sz="2400" dirty="0" err="1"/>
              <a:t>ulva_gutweed</a:t>
            </a:r>
            <a:r>
              <a:rPr lang="de-DE" sz="2400" dirty="0"/>
              <a:t>: 6 Videos			</a:t>
            </a:r>
            <a:r>
              <a:rPr lang="de-DE" sz="2400" dirty="0" err="1"/>
              <a:t>algaemix</a:t>
            </a:r>
            <a:r>
              <a:rPr lang="de-DE" sz="2400" dirty="0"/>
              <a:t>: 3 Videos</a:t>
            </a:r>
          </a:p>
          <a:p>
            <a:pPr marL="0" indent="0">
              <a:buNone/>
            </a:pPr>
            <a:r>
              <a:rPr lang="de-DE" sz="2400" dirty="0" err="1"/>
              <a:t>control</a:t>
            </a:r>
            <a:r>
              <a:rPr lang="de-DE" sz="2400" dirty="0"/>
              <a:t>: 7 Videos				</a:t>
            </a:r>
            <a:r>
              <a:rPr lang="de-DE" sz="2400" dirty="0" err="1"/>
              <a:t>control</a:t>
            </a:r>
            <a:r>
              <a:rPr lang="de-DE" sz="2400" dirty="0"/>
              <a:t>: 1 Video</a:t>
            </a:r>
          </a:p>
          <a:p>
            <a:pPr marL="0" indent="0">
              <a:buNone/>
            </a:pPr>
            <a:r>
              <a:rPr lang="de-DE" sz="2400" dirty="0" err="1"/>
              <a:t>sargassum</a:t>
            </a:r>
            <a:r>
              <a:rPr lang="de-DE" sz="2400" dirty="0"/>
              <a:t>: 6 Videos</a:t>
            </a:r>
          </a:p>
          <a:p>
            <a:pPr marL="0" indent="0">
              <a:buNone/>
            </a:pPr>
            <a:r>
              <a:rPr lang="de-DE" sz="2400" dirty="0" err="1"/>
              <a:t>fischmix</a:t>
            </a:r>
            <a:r>
              <a:rPr lang="de-DE" sz="2400" dirty="0"/>
              <a:t>: 3 Videos</a:t>
            </a:r>
            <a:br>
              <a:rPr lang="de-DE" dirty="0"/>
            </a:b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47min </a:t>
            </a:r>
            <a:r>
              <a:rPr lang="de-DE" dirty="0" err="1"/>
              <a:t>videos</a:t>
            </a:r>
            <a:r>
              <a:rPr lang="de-DE" dirty="0"/>
              <a:t>, eine Ausnahme 32min lang (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Nursery</a:t>
            </a:r>
            <a:r>
              <a:rPr lang="de-DE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Aktualisierte Struktur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Statistik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Unterschiede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Standort</a:t>
            </a:r>
            <a:r>
              <a:rPr dirty="0"/>
              <a:t> und </a:t>
            </a:r>
            <a:r>
              <a:rPr dirty="0" err="1"/>
              <a:t>Köder</a:t>
            </a:r>
            <a:endParaRPr dirty="0"/>
          </a:p>
          <a:p>
            <a:r>
              <a:rPr dirty="0" err="1"/>
              <a:t>Robuste</a:t>
            </a:r>
            <a:r>
              <a:rPr dirty="0"/>
              <a:t> vs. explorative </a:t>
            </a:r>
            <a:r>
              <a:rPr dirty="0" err="1"/>
              <a:t>Effekte</a:t>
            </a:r>
            <a:endParaRPr dirty="0"/>
          </a:p>
          <a:p>
            <a:r>
              <a:rPr dirty="0"/>
              <a:t>Rolle von feeding &amp; interested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Stärkster</a:t>
            </a:r>
            <a:r>
              <a:rPr dirty="0"/>
              <a:t> </a:t>
            </a:r>
            <a:r>
              <a:rPr dirty="0" err="1"/>
              <a:t>Effekt</a:t>
            </a:r>
            <a:r>
              <a:rPr dirty="0"/>
              <a:t>: </a:t>
            </a:r>
            <a:r>
              <a:rPr dirty="0" err="1"/>
              <a:t>Standort</a:t>
            </a:r>
            <a:endParaRPr dirty="0"/>
          </a:p>
          <a:p>
            <a:r>
              <a:rPr dirty="0" err="1"/>
              <a:t>Mittlerer</a:t>
            </a:r>
            <a:r>
              <a:rPr dirty="0"/>
              <a:t> </a:t>
            </a:r>
            <a:r>
              <a:rPr dirty="0" err="1"/>
              <a:t>Effekt</a:t>
            </a:r>
            <a:r>
              <a:rPr dirty="0"/>
              <a:t>: </a:t>
            </a:r>
            <a:r>
              <a:rPr dirty="0" err="1"/>
              <a:t>Köder</a:t>
            </a:r>
            <a:endParaRPr dirty="0"/>
          </a:p>
          <a:p>
            <a:r>
              <a:rPr dirty="0" err="1"/>
              <a:t>Schwächster</a:t>
            </a:r>
            <a:r>
              <a:rPr dirty="0"/>
              <a:t> </a:t>
            </a:r>
            <a:r>
              <a:rPr dirty="0" err="1"/>
              <a:t>Effekt</a:t>
            </a:r>
            <a:r>
              <a:rPr dirty="0"/>
              <a:t>: </a:t>
            </a:r>
            <a:r>
              <a:rPr dirty="0" err="1"/>
              <a:t>Verhalten</a:t>
            </a:r>
            <a:r>
              <a:rPr lang="de-DE" dirty="0"/>
              <a:t> (</a:t>
            </a:r>
            <a:r>
              <a:rPr lang="de-DE" dirty="0" err="1"/>
              <a:t>interested</a:t>
            </a:r>
            <a:r>
              <a:rPr lang="de-DE" dirty="0"/>
              <a:t>/</a:t>
            </a:r>
            <a:r>
              <a:rPr lang="de-DE" dirty="0" err="1"/>
              <a:t>feeding</a:t>
            </a:r>
            <a:r>
              <a:rPr lang="de-DE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Standortvergleich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161 Taxa</a:t>
            </a:r>
          </a:p>
          <a:p>
            <a:r>
              <a:rPr dirty="0"/>
              <a:t>36 </a:t>
            </a:r>
            <a:r>
              <a:rPr lang="de-DE" dirty="0"/>
              <a:t>davon sind </a:t>
            </a:r>
            <a:r>
              <a:rPr dirty="0"/>
              <a:t>Holm-</a:t>
            </a:r>
            <a:r>
              <a:rPr dirty="0" err="1"/>
              <a:t>signifikant</a:t>
            </a:r>
            <a:endParaRPr dirty="0"/>
          </a:p>
          <a:p>
            <a:r>
              <a:rPr dirty="0"/>
              <a:t>→ Starke </a:t>
            </a:r>
            <a:r>
              <a:rPr dirty="0" err="1"/>
              <a:t>Unterschiede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Standorten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B52A85B-E9BE-CF08-7CF0-936FF982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1" y="457361"/>
            <a:ext cx="7771977" cy="594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9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Taxa-Verteilung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Global </a:t>
            </a:r>
            <a:r>
              <a:rPr dirty="0" err="1"/>
              <a:t>signifikant</a:t>
            </a:r>
            <a:r>
              <a:rPr dirty="0"/>
              <a:t> (PERMANOVA)</a:t>
            </a:r>
          </a:p>
          <a:p>
            <a:r>
              <a:rPr dirty="0" err="1"/>
              <a:t>Paarweise</a:t>
            </a:r>
            <a:r>
              <a:rPr dirty="0"/>
              <a:t> </a:t>
            </a:r>
            <a:r>
              <a:rPr dirty="0" err="1"/>
              <a:t>meist</a:t>
            </a:r>
            <a:r>
              <a:rPr dirty="0"/>
              <a:t> nicht </a:t>
            </a:r>
            <a:r>
              <a:rPr dirty="0" err="1"/>
              <a:t>signifikant</a:t>
            </a:r>
            <a:endParaRPr lang="de-DE" dirty="0"/>
          </a:p>
          <a:p>
            <a:r>
              <a:rPr lang="de-DE" dirty="0"/>
              <a:t>Fasst man Algen-Köder und Fisch-Köder zusammen immer noch signifikant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4A388-E309-A419-5F77-7679D372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0C943E-0B1E-3920-7C8D-00C0D0CB0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2D94345-B790-7B7C-A9C7-A0045701D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6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Köder-Taxa-Häufigkeit (</a:t>
            </a:r>
            <a:r>
              <a:rPr lang="de-DE" dirty="0" err="1"/>
              <a:t>MaxN</a:t>
            </a:r>
            <a:r>
              <a:rPr lang="de-DE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Rohsignale vorhanden</a:t>
            </a:r>
          </a:p>
          <a:p>
            <a:r>
              <a:t>Keine Holm-signifikanten Taxa</a:t>
            </a:r>
          </a:p>
          <a:p>
            <a:r>
              <a:t>→ Effekt verteilt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2D66F-D381-BEB6-06D8-597860504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A3D3ED-DA1D-8AB5-DDC5-2ABED413B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CD87A7-5479-90E8-A8D9-71837DED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182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11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30E4-F0F8-28FA-4389-D24B471A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74BD-A1E9-6045-6C81-97087075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800" dirty="0"/>
              <a:t>Taxa-Verteilung und Häufigkeit kombiniert</a:t>
            </a:r>
            <a:endParaRPr sz="280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35502B4-C202-D2CE-D83F-61E3A9F9F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480" y="1150048"/>
            <a:ext cx="7945119" cy="497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5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Köderabstand zu Control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Taxa-Vorkommen</a:t>
            </a:r>
          </a:p>
          <a:p>
            <a:r>
              <a:rPr lang="de-DE" dirty="0" err="1"/>
              <a:t>Milimani</a:t>
            </a:r>
            <a:r>
              <a:rPr lang="de-DE" dirty="0"/>
              <a:t>: </a:t>
            </a:r>
            <a:r>
              <a:rPr lang="de-DE" dirty="0" err="1"/>
              <a:t>fishmix</a:t>
            </a:r>
            <a:r>
              <a:rPr lang="de-DE" dirty="0"/>
              <a:t> </a:t>
            </a:r>
          </a:p>
          <a:p>
            <a:r>
              <a:rPr lang="de-DE" dirty="0" err="1"/>
              <a:t>Utumbi</a:t>
            </a:r>
            <a:r>
              <a:rPr lang="de-DE" dirty="0"/>
              <a:t>: </a:t>
            </a:r>
            <a:r>
              <a:rPr lang="de-DE" dirty="0" err="1"/>
              <a:t>fishmix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Max 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Milimani</a:t>
            </a:r>
            <a:r>
              <a:rPr lang="de-DE" dirty="0"/>
              <a:t>: </a:t>
            </a:r>
            <a:r>
              <a:rPr lang="de-DE" dirty="0" err="1"/>
              <a:t>fishmix</a:t>
            </a:r>
            <a:r>
              <a:rPr lang="de-DE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Utumbi</a:t>
            </a:r>
            <a:r>
              <a:rPr lang="de-DE" dirty="0"/>
              <a:t>: </a:t>
            </a:r>
            <a:r>
              <a:rPr lang="de-DE" dirty="0" err="1"/>
              <a:t>mackerel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Interested</a:t>
            </a:r>
            <a:r>
              <a:rPr lang="de-DE" dirty="0"/>
              <a:t>/</a:t>
            </a:r>
            <a:r>
              <a:rPr lang="de-DE" dirty="0" err="1"/>
              <a:t>Feeding</a:t>
            </a:r>
            <a:r>
              <a:rPr lang="de-DE" dirty="0"/>
              <a:t>:</a:t>
            </a:r>
          </a:p>
          <a:p>
            <a:r>
              <a:rPr lang="de-DE" dirty="0" err="1"/>
              <a:t>Milimani</a:t>
            </a:r>
            <a:r>
              <a:rPr lang="de-DE" dirty="0"/>
              <a:t>: </a:t>
            </a:r>
            <a:r>
              <a:rPr lang="de-DE" dirty="0" err="1"/>
              <a:t>fishmix</a:t>
            </a:r>
            <a:endParaRPr lang="de-DE" dirty="0"/>
          </a:p>
          <a:p>
            <a:r>
              <a:rPr lang="de-DE" dirty="0" err="1"/>
              <a:t>Utumbi</a:t>
            </a:r>
            <a:r>
              <a:rPr lang="de-DE" dirty="0"/>
              <a:t>: </a:t>
            </a:r>
            <a:r>
              <a:rPr lang="de-DE" dirty="0" err="1"/>
              <a:t>fishmix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None/>
            </a:pPr>
            <a:r>
              <a:rPr lang="de-DE" dirty="0"/>
              <a:t>Jedoch nichts davon signifikant!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4420-48B3-FD68-82BC-BC0CF06F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29F1-8E51-2E10-90E2-FD7A0648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Sensitivität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1CD86-C0B8-B34A-2DFA-E44E3784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Keine </a:t>
            </a:r>
            <a:r>
              <a:rPr dirty="0" err="1"/>
              <a:t>neuen</a:t>
            </a:r>
            <a:r>
              <a:rPr dirty="0"/>
              <a:t> </a:t>
            </a:r>
            <a:r>
              <a:rPr dirty="0" err="1"/>
              <a:t>Effekte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Filterung</a:t>
            </a:r>
            <a:r>
              <a:rPr lang="de-DE" dirty="0"/>
              <a:t> bis zu 40% der Arten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746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EEC0-8E5A-8E6E-B09F-5ED8BB10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9815-8B8C-3DE5-1D21-61924848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Bsp.: </a:t>
            </a:r>
            <a:r>
              <a:rPr lang="de-DE" dirty="0" err="1"/>
              <a:t>Groupers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75E64-21FA-5C52-CBD9-898EB8BAA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Groupers</a:t>
            </a:r>
            <a:r>
              <a:rPr lang="de-DE" dirty="0"/>
              <a:t> zeigen eine plausible Vorliebe für </a:t>
            </a:r>
            <a:r>
              <a:rPr lang="de-DE" dirty="0" err="1"/>
              <a:t>mackerel</a:t>
            </a:r>
            <a:r>
              <a:rPr lang="de-DE" dirty="0"/>
              <a:t> und </a:t>
            </a:r>
            <a:r>
              <a:rPr lang="de-DE" dirty="0" err="1"/>
              <a:t>fischmix</a:t>
            </a:r>
            <a:r>
              <a:rPr lang="de-DE" dirty="0"/>
              <a:t>, aber die Stichprobe reicht nicht für einen signifikanten Nachweis pro Standort.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342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Standort</a:t>
            </a:r>
            <a:r>
              <a:rPr dirty="0"/>
              <a:t> &gt; </a:t>
            </a:r>
            <a:r>
              <a:rPr dirty="0" err="1"/>
              <a:t>Köder</a:t>
            </a:r>
            <a:r>
              <a:rPr dirty="0"/>
              <a:t> &gt; </a:t>
            </a:r>
            <a:r>
              <a:rPr dirty="0" err="1">
                <a:solidFill>
                  <a:srgbClr val="FF0000"/>
                </a:solidFill>
              </a:rPr>
              <a:t>Verhalten</a:t>
            </a:r>
            <a:endParaRPr dirty="0">
              <a:solidFill>
                <a:srgbClr val="FF0000"/>
              </a:solidFill>
            </a:endParaRPr>
          </a:p>
          <a:p>
            <a:r>
              <a:rPr dirty="0" err="1"/>
              <a:t>Köder</a:t>
            </a:r>
            <a:r>
              <a:rPr dirty="0"/>
              <a:t> </a:t>
            </a:r>
            <a:r>
              <a:rPr dirty="0" err="1"/>
              <a:t>wirken</a:t>
            </a:r>
            <a:r>
              <a:rPr dirty="0"/>
              <a:t> </a:t>
            </a:r>
            <a:r>
              <a:rPr dirty="0" err="1"/>
              <a:t>diffus</a:t>
            </a:r>
            <a:r>
              <a:rPr lang="de-DE" dirty="0"/>
              <a:t>, nur gruppiert und global signifikant</a:t>
            </a:r>
            <a:endParaRPr dirty="0"/>
          </a:p>
          <a:p>
            <a:r>
              <a:rPr dirty="0" err="1"/>
              <a:t>Verhalten</a:t>
            </a:r>
            <a:r>
              <a:rPr dirty="0"/>
              <a:t> </a:t>
            </a:r>
            <a:r>
              <a:rPr dirty="0" err="1"/>
              <a:t>ergänzend</a:t>
            </a:r>
            <a:r>
              <a:rPr lang="de-DE" dirty="0"/>
              <a:t>, jedoch nicht signifikant</a:t>
            </a:r>
          </a:p>
          <a:p>
            <a:r>
              <a:rPr lang="de-DE" dirty="0"/>
              <a:t>Weitere Probleme: Parameter der Videos, einzelne Taxa, die nicht relevant sind, teilweise fehlende Replikate, z.B. bei </a:t>
            </a:r>
            <a:r>
              <a:rPr lang="de-DE" dirty="0" err="1"/>
              <a:t>fishmix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B5E3-9C13-7DF5-547E-E093A032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A7E0-9F5B-720E-0B8A-ABAF1CF6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Statisitk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66C18-6E07-0EEB-EE9A-17758D117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de-DE" dirty="0"/>
              <a:t>Standortvergleich</a:t>
            </a:r>
          </a:p>
          <a:p>
            <a:r>
              <a:rPr lang="de-DE" dirty="0"/>
              <a:t>Taxa-Vergleich nach Standort</a:t>
            </a:r>
          </a:p>
          <a:p>
            <a:r>
              <a:rPr lang="de-DE" dirty="0"/>
              <a:t>Taxa-Vergleich nach Köder</a:t>
            </a:r>
          </a:p>
          <a:p>
            <a:r>
              <a:rPr lang="de-DE" dirty="0"/>
              <a:t>Taxa-Häufigkeit nach Standort</a:t>
            </a:r>
          </a:p>
          <a:p>
            <a:r>
              <a:rPr lang="de-DE" dirty="0"/>
              <a:t>Taxa-Häufigkeit nach Köder</a:t>
            </a:r>
          </a:p>
          <a:p>
            <a:r>
              <a:rPr lang="de-DE" dirty="0"/>
              <a:t>Verhalten-Vergleich nach Köder</a:t>
            </a:r>
          </a:p>
          <a:p>
            <a:r>
              <a:rPr lang="de-DE" dirty="0"/>
              <a:t>Taxa-Vergleich und Taxa-Häufigkeit nach Köder kombiniert</a:t>
            </a:r>
          </a:p>
          <a:p>
            <a:r>
              <a:rPr lang="de-DE" dirty="0"/>
              <a:t>First-Seen und </a:t>
            </a:r>
            <a:r>
              <a:rPr lang="de-DE" dirty="0" err="1"/>
              <a:t>MaxN</a:t>
            </a:r>
            <a:r>
              <a:rPr lang="de-DE" dirty="0"/>
              <a:t>-Vergleich </a:t>
            </a:r>
          </a:p>
          <a:p>
            <a:r>
              <a:rPr lang="de-DE" dirty="0" err="1"/>
              <a:t>Species-Richness</a:t>
            </a:r>
            <a:endParaRPr lang="de-DE" dirty="0"/>
          </a:p>
          <a:p>
            <a:r>
              <a:rPr lang="de-DE" dirty="0" err="1"/>
              <a:t>Grouper</a:t>
            </a:r>
            <a:r>
              <a:rPr lang="de-DE" dirty="0"/>
              <a:t>-Beispiel</a:t>
            </a:r>
          </a:p>
          <a:p>
            <a:r>
              <a:rPr lang="de-DE" dirty="0"/>
              <a:t>Sensitivitätsanalyse für gemeinsame Taxa nach Köder</a:t>
            </a:r>
          </a:p>
          <a:p>
            <a:r>
              <a:rPr lang="de-DE" dirty="0"/>
              <a:t>Maximaler Köderabstand zu Control </a:t>
            </a:r>
          </a:p>
          <a:p>
            <a:endParaRPr lang="de-DE" dirty="0"/>
          </a:p>
          <a:p>
            <a:r>
              <a:rPr lang="de-DE" dirty="0">
                <a:solidFill>
                  <a:srgbClr val="FF0000"/>
                </a:solidFill>
              </a:rPr>
              <a:t>Nur </a:t>
            </a:r>
            <a:r>
              <a:rPr lang="de-DE" dirty="0" err="1">
                <a:solidFill>
                  <a:srgbClr val="FF0000"/>
                </a:solidFill>
              </a:rPr>
              <a:t>feeding</a:t>
            </a:r>
            <a:r>
              <a:rPr lang="de-DE" dirty="0">
                <a:solidFill>
                  <a:srgbClr val="FF0000"/>
                </a:solidFill>
              </a:rPr>
              <a:t> betrachten</a:t>
            </a:r>
          </a:p>
          <a:p>
            <a:r>
              <a:rPr lang="de-DE" dirty="0">
                <a:solidFill>
                  <a:srgbClr val="FF0000"/>
                </a:solidFill>
              </a:rPr>
              <a:t>Algenköder gruppieren und gegenüber </a:t>
            </a:r>
            <a:r>
              <a:rPr lang="de-DE" dirty="0" err="1">
                <a:solidFill>
                  <a:srgbClr val="FF0000"/>
                </a:solidFill>
              </a:rPr>
              <a:t>fishköder</a:t>
            </a:r>
            <a:r>
              <a:rPr lang="de-DE" dirty="0">
                <a:solidFill>
                  <a:srgbClr val="FF0000"/>
                </a:solidFill>
              </a:rPr>
              <a:t> stellen</a:t>
            </a:r>
          </a:p>
          <a:p>
            <a:r>
              <a:rPr lang="de-DE" dirty="0">
                <a:solidFill>
                  <a:srgbClr val="FF0000"/>
                </a:solidFill>
              </a:rPr>
              <a:t>Parameter z.B. Sicht einarbeiten</a:t>
            </a:r>
          </a:p>
          <a:p>
            <a:r>
              <a:rPr lang="de-DE" dirty="0" err="1">
                <a:solidFill>
                  <a:srgbClr val="FF0000"/>
                </a:solidFill>
              </a:rPr>
              <a:t>Nursery</a:t>
            </a:r>
            <a:r>
              <a:rPr lang="de-DE" dirty="0">
                <a:solidFill>
                  <a:srgbClr val="FF0000"/>
                </a:solidFill>
              </a:rPr>
              <a:t> getrennt betrachten-Verfahrensvergleich </a:t>
            </a:r>
            <a:r>
              <a:rPr lang="de-DE" dirty="0" err="1">
                <a:solidFill>
                  <a:srgbClr val="FF0000"/>
                </a:solidFill>
              </a:rPr>
              <a:t>algae</a:t>
            </a:r>
            <a:r>
              <a:rPr lang="de-DE" dirty="0">
                <a:solidFill>
                  <a:srgbClr val="FF0000"/>
                </a:solidFill>
              </a:rPr>
              <a:t>-strings vs. </a:t>
            </a:r>
            <a:r>
              <a:rPr lang="de-DE" dirty="0" err="1">
                <a:solidFill>
                  <a:srgbClr val="FF0000"/>
                </a:solidFill>
              </a:rPr>
              <a:t>basket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Weitere Signifikanztests und Signifikanzkorrekturen</a:t>
            </a:r>
          </a:p>
          <a:p>
            <a:r>
              <a:rPr lang="de-DE" dirty="0">
                <a:solidFill>
                  <a:srgbClr val="FF0000"/>
                </a:solidFill>
              </a:rPr>
              <a:t>Ideen?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8459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Bildschirmpräsentation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Datengrundlage</vt:lpstr>
      <vt:lpstr>Statistik</vt:lpstr>
      <vt:lpstr>Überblick</vt:lpstr>
      <vt:lpstr>Standortvergleich</vt:lpstr>
      <vt:lpstr>PowerPoint-Präsentation</vt:lpstr>
      <vt:lpstr>Taxa-Verteilung</vt:lpstr>
      <vt:lpstr>PowerPoint-Präsentation</vt:lpstr>
      <vt:lpstr>Köder-Taxa-Häufigkeit (MaxN)</vt:lpstr>
      <vt:lpstr>PowerPoint-Präsentation</vt:lpstr>
      <vt:lpstr>Taxa-Verteilung und Häufigkeit kombiniert</vt:lpstr>
      <vt:lpstr>Köderabstand zu Control</vt:lpstr>
      <vt:lpstr>Sensitivität</vt:lpstr>
      <vt:lpstr>Bsp.: Groupers</vt:lpstr>
      <vt:lpstr>Fazit</vt:lpstr>
      <vt:lpstr>Statisitk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Max Romes</dc:creator>
  <cp:keywords/>
  <dc:description>generated using python-pptx</dc:description>
  <cp:lastModifiedBy>Max Romes</cp:lastModifiedBy>
  <cp:revision>7</cp:revision>
  <dcterms:created xsi:type="dcterms:W3CDTF">2013-01-27T09:14:16Z</dcterms:created>
  <dcterms:modified xsi:type="dcterms:W3CDTF">2026-04-15T10:58:30Z</dcterms:modified>
  <cp:category/>
</cp:coreProperties>
</file>